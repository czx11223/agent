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1554480" cy="1554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331470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项目汇报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600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智能问诊导诊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C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多轮医疗预问诊 · 科室智能推荐 · 结构化报告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4670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C9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AgentScope 编排 + 大语言模型（SiliconFlow / DeepSeek-V3）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24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C9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汇报人：陈赞鑫　·　嘉大班　·　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457200" cy="457200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2984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457200" cy="457200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1872" y="21671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开发目的与目标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457200" cy="457200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1872" y="30358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457200" cy="457200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1872" y="3904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技术方案与架构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457200" cy="4572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68112" y="12984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实现过程 · 步骤与流程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2194560"/>
            <a:ext cx="457200" cy="4572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68112" y="21671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重难点与应对方式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3063240"/>
            <a:ext cx="457200" cy="4572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68112" y="30358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运行效果截图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3931920"/>
            <a:ext cx="457200" cy="457200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68112" y="3904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评测指标与心得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背景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就医导诊的现实痛点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786384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481328"/>
            <a:ext cx="384048" cy="384048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3441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挂号难、挂错科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128930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患者对症状归属科室难以判断，“肚子疼挂内科还是外科”“发烧去哪科”的困惑突出。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786384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9456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441448"/>
            <a:ext cx="384048" cy="384048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468880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304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导诊人力不足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224942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门诊分诊依赖人工导诊台，高峰期排队久、效率低，占用大量医护人力资源。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786384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5468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401568"/>
            <a:ext cx="384048" cy="384048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29000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264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主诉信息零散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320954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传统问诊信息采集不结构化、不完整，影响分诊准确性与接诊衔接效率。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786384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11480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361688"/>
            <a:ext cx="384048" cy="384048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389120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4224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AI 问诊场景落地难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06240" y="416966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需兼顾追问自然度、信息完整性、安全边界（急重症、越界拒答）等多重约束。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目标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开发目的与建设目标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构建一个可落地的智能问诊导诊 Agent：用多轮追问补全患者主诉，自动推荐就诊科室并出具结构化预问诊报告，缓解导诊资源压力。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93192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82296" cy="96012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313432"/>
            <a:ext cx="365760" cy="365760"/>
          </a:xfrm>
          <a:prstGeom prst="oval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130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多轮人机追问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2"/>
                </a:solidFill>
              </a:rPr>
              <a:t>贴近医患真实对话，逐项补全症状、部位、时长、伴随、既往史与过敏史。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057400"/>
            <a:ext cx="393192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057400"/>
            <a:ext cx="82296" cy="96012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2313432"/>
            <a:ext cx="365760" cy="365760"/>
          </a:xfrm>
          <a:prstGeom prst="oval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130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科室智能推荐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2"/>
                </a:solidFill>
              </a:rPr>
              <a:t>按主诉多症状加权匹配，输出科室 Top3，并附匹配依据。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393192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08960"/>
            <a:ext cx="82296" cy="96012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364992"/>
            <a:ext cx="365760" cy="365760"/>
          </a:xfrm>
          <a:prstGeom prst="oval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3182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结构化报告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2"/>
                </a:solidFill>
              </a:rPr>
              <a:t>自动生成主诉/现病史/过敏史/既往史/科室推荐报告，支持复制与导出。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108960"/>
            <a:ext cx="393192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108960"/>
            <a:ext cx="82296" cy="96012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364992"/>
            <a:ext cx="365760" cy="365760"/>
          </a:xfrm>
          <a:prstGeom prst="oval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182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安全与合规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2"/>
                </a:solidFill>
              </a:rPr>
              <a:t>急重症即时拦截提示、越界提问拒答、防提示词注入、报告溯源。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追问覆盖率  ≥ 90%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报告完整率  ≥ 90%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科室Top3准确率  ≥ 80%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响应时间  ≤ 5s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概况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功能全景一览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39319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41732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356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用户体系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325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 / 登录（JWT 鉴权）、会话历史管理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9319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41732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356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多轮问诊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325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人设化追问链 + 情感安抚，指代消解（“这里也疼”）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194560"/>
            <a:ext cx="39319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19456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377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3957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急重症拦截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286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高危症状即时提示，越界提问安全拒答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39319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9456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377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3957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智能导诊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2286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症状-科室映射，科室 Top3 加权推荐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154680"/>
            <a:ext cx="39319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15468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33375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3558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结构化报告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3246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预问诊报告 Markdown 渲染 + 复制 / 导出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154680"/>
            <a:ext cx="3931920" cy="868680"/>
          </a:xfrm>
          <a:prstGeom prst="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154680"/>
            <a:ext cx="82296" cy="86868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33375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3558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安全合规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3246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输入净化防注入、报告溯源、HTTPS 部署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架构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系统分层架构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234440"/>
            <a:ext cx="7315200" cy="9144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893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前端呈现层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45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18 · Vite · TailwindCSS · Ant Design · 报告 Markdown 渲染 / 复制 / 导出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2121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 SSE 流式 / REST 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395728"/>
            <a:ext cx="7315200" cy="9144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4505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后端服务层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8072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0.143（RESTful + SSE）· 认证 JWT · 输入净化 · 会话/报告落库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32826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 编排与生成  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557016"/>
            <a:ext cx="7315200" cy="914400"/>
          </a:xfrm>
          <a:prstGeom prst="roundRect">
            <a:avLst>
              <a:gd name="adj" fmla="val 5000"/>
            </a:avLst>
          </a:prstGeom>
          <a:solidFill>
            <a:srgbClr val="062B3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Agent 与数据层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9684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6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AgentScope(Msg 编排) · 指代消解 · 槽位填充 · 症状-科室映射 · sqlite3 · LLM(SiliconFlow/DeepSeek-V3)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核心技术栈与版本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200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选用技术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后端框架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FastAPI 0.143 + uvicorn 0.54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34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RESTful + SSE 流式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Agent 框架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AgentScope 2.0.10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34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Msg 消息模型编排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大模型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SiliconFlow · DeepSeek-V3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34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OpenAI 兼容、国内直连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后端语言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Python 3.12+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34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项目在 3.12.14 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React 18 · Vite 5 · 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34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TailwindCSS 3 · Ant Design 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sqlite3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34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用户/会话/消息/报告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步骤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开发步骤与项目流程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393192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344168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67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3075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数据获取清洗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5880" y="1627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拉取中文医疗对话语料，清洗为“主诉-追问-补充”样本，建症状-科室映射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393192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34440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344168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670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3075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前端研发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94960" y="1627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登录/对话/报告界面，SSE 流式渲染、Markdown 报告复制导出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40080" y="2167128"/>
            <a:ext cx="393192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167128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27685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2997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后端 Agent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+ 多轮追问编排、槽位填充、指代消解、急重症拦截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709160" y="2167128"/>
            <a:ext cx="393192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67128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2276856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2997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评测集构建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39496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扩至 120 例评测用例，覆盖追问/报告/急重症/拒答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40080" y="3099816"/>
            <a:ext cx="393192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3099816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32095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2324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25880" y="3172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SFT 数据集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325880" y="34930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 1.3 万+ 样本微调数据集，多任务配比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709160" y="3099816"/>
            <a:ext cx="393192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099816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38" name="Shape 36"/>
          <p:cNvSpPr/>
          <p:nvPr/>
        </p:nvSpPr>
        <p:spPr>
          <a:xfrm>
            <a:off x="4846320" y="32095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2324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3172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合规整改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394960" y="34930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Python3.12 · AgentScope 引入 · 指代消解 · 评测落地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40080" y="4032504"/>
            <a:ext cx="393192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4032504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44" name="Shape 42"/>
          <p:cNvSpPr/>
          <p:nvPr/>
        </p:nvSpPr>
        <p:spPr>
          <a:xfrm>
            <a:off x="777240" y="414223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41650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325880" y="41056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端到端评测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325880" y="44256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 LLM 全量跑测，四项指标达标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4709160" y="4032504"/>
            <a:ext cx="393192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9160" y="4032504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50" name="Shape 48"/>
          <p:cNvSpPr/>
          <p:nvPr/>
        </p:nvSpPr>
        <p:spPr>
          <a:xfrm>
            <a:off x="4846320" y="414223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1650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94960" y="41056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部署运维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5394960" y="44256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8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Nginx + HTTPS、SSE 反代、依赖与启动文档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流程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一次问诊的端到端执行链路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932688" cy="137160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93268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用户输入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89888" y="2240280"/>
            <a:ext cx="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54480" y="2926080"/>
            <a:ext cx="932688" cy="137160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108960"/>
            <a:ext cx="93268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输入净化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防注入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2240280"/>
            <a:ext cx="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1554480"/>
            <a:ext cx="932688" cy="137160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737360"/>
            <a:ext cx="93268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急重症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规则拦截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84448" y="2240280"/>
            <a:ext cx="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2926080"/>
            <a:ext cx="932688" cy="137160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3108960"/>
            <a:ext cx="93268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编排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(AgentScope)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2240280"/>
            <a:ext cx="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46320" y="1554480"/>
            <a:ext cx="932688" cy="137160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737360"/>
            <a:ext cx="93268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槽位填充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指代消解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79008" y="2240280"/>
            <a:ext cx="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0" y="2926080"/>
            <a:ext cx="932688" cy="137160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108960"/>
            <a:ext cx="93268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科室推荐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76288" y="2240280"/>
            <a:ext cx="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0880" y="1554480"/>
            <a:ext cx="932688" cy="137160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737360"/>
            <a:ext cx="93268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LLM(SiliconFlow/DeepSeek-V3) 承载追问生成与语义理解，Speed-up：SSE 流式 + JSON 早停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难点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项目重难点与应对方式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3931920" cy="128016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82296" cy="12801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399032"/>
            <a:ext cx="384048" cy="384048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2646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任务书硬约束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Python 3.12+ 与 AgentScope 必选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20025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7A82"/>
                </a:solidFill>
              </a:rPr>
              <a:t>用 uv 重建 3.12 环境；基于 AgentScope Msg 重构编排层，解决与 fastapi/starlette 的版本冲突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3931920" cy="128016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34440"/>
            <a:ext cx="82296" cy="12801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399032"/>
            <a:ext cx="384048" cy="384048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2646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9496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指代消解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9496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“这里也疼”等代词绑定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0025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7A82"/>
                </a:solidFill>
              </a:rPr>
              <a:t>部位词表 + 最长匹配 + 上下文最近部位回填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2606040"/>
            <a:ext cx="3931920" cy="128016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2606040"/>
            <a:ext cx="82296" cy="12801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2770632"/>
            <a:ext cx="384048" cy="384048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79806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评测达标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2588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LLM网络抖动导致降级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3741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7A82"/>
                </a:solidFill>
              </a:rPr>
              <a:t>流式读取 + JSON早停 + 指数退避重试 + 降级用例自愈重跑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606040"/>
            <a:ext cx="3931920" cy="128016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606040"/>
            <a:ext cx="82296" cy="12801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2770632"/>
            <a:ext cx="384048" cy="384048"/>
          </a:xfrm>
          <a:prstGeom prst="oval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79806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9496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响应延迟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39496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整句生成后才返回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33741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7A82"/>
                </a:solidFill>
              </a:rPr>
              <a:t>SSE 流式 + max_tokens 降档 + 合法JSON即早停，收敛首字时间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评测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真实 LLM 全量 120 例实测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508760" cy="21945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" cy="21945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828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865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≥90%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95.63%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追问覆盖率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84832" y="1371600"/>
            <a:ext cx="1508760" cy="21945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84832" y="1371600"/>
            <a:ext cx="82296" cy="21945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2340864" y="1828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2340864" y="1865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≥90%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76272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76272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报告完整率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12464" y="1371600"/>
            <a:ext cx="1508760" cy="21945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1371600"/>
            <a:ext cx="82296" cy="21945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3968496" y="1828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3968496" y="1865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≥80%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03904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93.33%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03904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科室Top3准确率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0096" y="1371600"/>
            <a:ext cx="1508760" cy="21945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40096" y="1371600"/>
            <a:ext cx="82296" cy="21945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5596128" y="1828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/>
        </p:spPr>
      </p:sp>
      <p:sp>
        <p:nvSpPr>
          <p:cNvPr id="27" name="Text 25"/>
          <p:cNvSpPr/>
          <p:nvPr/>
        </p:nvSpPr>
        <p:spPr>
          <a:xfrm>
            <a:off x="5596128" y="1865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31536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98.33%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431536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急重症拦截准确率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67728" y="1371600"/>
            <a:ext cx="1508760" cy="219456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67728" y="1371600"/>
            <a:ext cx="82296" cy="2194560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1828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1865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≤5s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59168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3.9s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059168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平均响应时间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评测口径：真实调用 DeepSeek-V3，多轮追问，急重症/拒答只计入拦截准确率；数据源自 evaluation/reports 评测报告。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效果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项目运行效果截图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6" name="Image 0" descr="C:\Users\20454\AppData\Local\Temp\ppt_build\assets\login_877x768_877x7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3886200" cy="1874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234440"/>
            <a:ext cx="3886200" cy="1874520"/>
          </a:xfrm>
          <a:prstGeom prst="rect">
            <a:avLst>
              <a:gd name="adj" fmla="val 1463"/>
            </a:avLst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1272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登录页</a:t>
            </a:r>
            <a:endParaRPr lang="en-US" sz="1200" dirty="0"/>
          </a:p>
        </p:txBody>
      </p:sp>
      <p:pic>
        <p:nvPicPr>
          <p:cNvPr id="9" name="Image 1" descr="C:\Users\20454\AppData\Local\Temp\ppt_build\assets\chat_877x768_877x72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234440"/>
            <a:ext cx="3886200" cy="1874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1234440"/>
            <a:ext cx="3886200" cy="1874520"/>
          </a:xfrm>
          <a:prstGeom prst="rect">
            <a:avLst>
              <a:gd name="adj" fmla="val 1463"/>
            </a:avLst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63440" y="31272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多轮问诊对话</a:t>
            </a:r>
            <a:endParaRPr lang="en-US" sz="1200" dirty="0"/>
          </a:p>
        </p:txBody>
      </p:sp>
      <p:pic>
        <p:nvPicPr>
          <p:cNvPr id="12" name="Image 2" descr="C:\Users\20454\AppData\Local\Temp\ppt_build\assets\chat2_877x768_877x72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3611880"/>
            <a:ext cx="3886200" cy="18745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3611880"/>
            <a:ext cx="3886200" cy="1874520"/>
          </a:xfrm>
          <a:prstGeom prst="rect">
            <a:avLst>
              <a:gd name="adj" fmla="val 1463"/>
            </a:avLst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85800" y="55046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跟随追问补充</a:t>
            </a:r>
            <a:endParaRPr lang="en-US" sz="1200" dirty="0"/>
          </a:p>
        </p:txBody>
      </p:sp>
      <p:pic>
        <p:nvPicPr>
          <p:cNvPr id="15" name="Image 3" descr="C:\Users\20454\AppData\Local\Temp\ppt_build\assets\report_877x768_877x72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3611880"/>
            <a:ext cx="3886200" cy="18745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663440" y="3611880"/>
            <a:ext cx="3886200" cy="1874520"/>
          </a:xfrm>
          <a:prstGeom prst="rect">
            <a:avLst>
              <a:gd name="adj" fmla="val 1463"/>
            </a:avLst>
          </a:prstGeom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663440" y="55046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结构化报告 + 科室推荐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oval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2976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心得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365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项目收获与心得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182880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786384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444752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76756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系统工程思维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371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从数据、词表、前端到后端 Agent、评测、微调数据集，全链路闭环，体会到“单一模块易、整体贯通难”。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212848"/>
            <a:ext cx="786384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212848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377440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409444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2304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Agent 框架落地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230428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AgentScope 的 Msg 消息模型与自包含编排如何结合，以及依赖冲突的排查与固定版本策略。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145536"/>
            <a:ext cx="786384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45536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310128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42132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32369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评测即工程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3236976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指标不是“算出来”，而是网络、降级、口径都可靠的工程；自愈重跑与口径修正是达标关键。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078224"/>
            <a:ext cx="7863840" cy="841248"/>
          </a:xfrm>
          <a:prstGeom prst="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CFE7E4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078224"/>
            <a:ext cx="82296" cy="841248"/>
          </a:xfrm>
          <a:prstGeom prst="rect">
            <a:avLst>
              <a:gd name="adj" fmla="val 55556"/>
            </a:avLst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242816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74820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41696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C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贴近真实业务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66160" y="4169664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7A8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安全合规（急重症、拒答、防注入）与大模型可控性、速度体验需协同权衡。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0" y="1383030"/>
            <a:ext cx="2377440" cy="2377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737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谢谢聆听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C9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智能问诊导诊 Agent · 让挂号更精准，让问诊更高效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嘉大班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智能问诊导诊 Agent - 项目汇报</dc:title>
  <dc:subject>智能问诊导诊 Agent 项目汇报</dc:subject>
  <dc:creator>陈赞鑫</dc:creator>
  <cp:lastModifiedBy>陈赞鑫</cp:lastModifiedBy>
  <cp:revision>1</cp:revision>
  <dcterms:created xsi:type="dcterms:W3CDTF">2026-10-20T09:33:48Z</dcterms:created>
  <dcterms:modified xsi:type="dcterms:W3CDTF">2026-10-20T09:33:48Z</dcterms:modified>
</cp:coreProperties>
</file>